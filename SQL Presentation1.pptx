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teeshbabbu narla" initials="sn" lastIdx="2" clrIdx="0">
    <p:extLst>
      <p:ext uri="{19B8F6BF-5375-455C-9EA6-DF929625EA0E}">
        <p15:presenceInfo xmlns:p15="http://schemas.microsoft.com/office/powerpoint/2012/main" userId="39b88c08ca88121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DAD5-E4B6-F4E9-C406-2C65D374B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27854-0CD8-607E-B825-F5574058C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6A6A3-60D6-679C-E3D9-72A534B3C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EB473-CC53-4E00-80F6-D763D4DE8E1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F3C1E-9AF0-6F08-664C-9DC47DCD9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8C1B2-41AC-FE3B-B557-5305980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0E63E-845C-4238-80E9-DB38FD63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690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E72A-B666-6391-23D6-A94F8BD2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95F65-D197-C2B3-8256-304732937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FA064-D292-4E47-550A-9E9E259C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EB473-CC53-4E00-80F6-D763D4DE8E1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3BCDD-B101-5EB7-93B4-8A1ADF331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092F-AB5C-8571-FCAC-AD90904B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0E63E-845C-4238-80E9-DB38FD63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31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62B7-8474-8E6C-346E-F4DAD53B4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BB68A-474D-1909-5FCD-2424073E6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B563E-29FB-3DFF-1B3C-8F0945B4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EB473-CC53-4E00-80F6-D763D4DE8E1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D0C54-2461-46F7-017B-D5D16FBA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B5F81-E57E-86AA-6A59-EEB792A5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0E63E-845C-4238-80E9-DB38FD63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22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78BFF-CFA8-525B-F258-866D5DBD6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570F4-3880-7BB1-4B1E-E60C5067E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97C97-250B-56DF-C896-07234314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CCAAE-5E4B-7319-F02A-A5D554E7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EB473-CC53-4E00-80F6-D763D4DE8E1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FD164-E222-96D0-1270-F707968EB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091E8-854A-2767-BC0E-BD8DB2A9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0E63E-845C-4238-80E9-DB38FD63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00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2A9C-54FF-EFCF-8E79-25A204F3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D93A9-C50B-EC67-0D8B-DC53E03D6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CDB01-A10F-A2C4-B0A7-8592FC9F1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EE1244-9BCE-FE8E-D223-21B2E83EC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8BD33-450B-E24E-F616-52580F540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21E9B7-C0C4-F2F7-457D-0027C2F09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EB473-CC53-4E00-80F6-D763D4DE8E1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E59B2-4BA8-D4EA-4AE6-71A1EAEC4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3ABDB9-DCFD-29D0-F636-6BF5D965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0E63E-845C-4238-80E9-DB38FD63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41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02AE-ACBA-2707-2253-720EB631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FDB0A-EB8D-AED3-984C-4E2C45DD6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EB473-CC53-4E00-80F6-D763D4DE8E1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B9028-7933-0596-F9AE-BD86D250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371BD-47C6-F27B-DE3D-FC81F8E24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0E63E-845C-4238-80E9-DB38FD63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598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8FD9A8-2BC3-77D4-0499-9DE97698E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EB473-CC53-4E00-80F6-D763D4DE8E1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C3142-680B-E551-74DA-E423BA4D2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2A994-C668-83C7-5663-58592087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0E63E-845C-4238-80E9-DB38FD63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534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EAC94-185E-3F5D-617D-109C1FEF2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2DE44-4F4D-4468-2C11-B551635B9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7C6F9-C375-2245-B994-34A482BAF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AC229-062B-BCD9-E396-7C8DDE1C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EB473-CC53-4E00-80F6-D763D4DE8E1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37341-68E6-F99B-D986-4A55E4AC4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EE7A2-790D-722A-40B0-5B2097A1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0E63E-845C-4238-80E9-DB38FD63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B1CB-9A62-C816-D8DC-898BD799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427C4-372A-8FE2-6FDF-C2A12022A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7A34C-4DE7-840D-AEFB-0E1A9224E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4911E-F626-5D05-FA79-44C834425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EB473-CC53-4E00-80F6-D763D4DE8E1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8BADC-3EDB-89E4-8F5D-1234E1154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83B34-3FD3-4590-AF47-4F98C722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0E63E-845C-4238-80E9-DB38FD63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217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26DCE-963F-4542-6188-FBDF9997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EBB01-E154-3741-F290-1820FF828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8C668-DA29-D76D-DE10-F561B9A31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EB473-CC53-4E00-80F6-D763D4DE8E1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29CF9-C894-65E3-2D94-1B4A9D020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C7CD9-BA72-5FB1-C1E0-8F023C60D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0E63E-845C-4238-80E9-DB38FD63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2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4F20AA-1B33-A767-FD0C-C66C58174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F7242-39CF-87C6-92C0-9D68089E8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271C2-D4A1-90FF-B3A6-2FC5FD0F2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EB473-CC53-4E00-80F6-D763D4DE8E1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4F98E-8F8A-0EDA-8331-BDB620FC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2F536-124F-3ABB-3E26-1C58C617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0E63E-845C-4238-80E9-DB38FD63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17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0E483-275C-483D-B3B7-83F522CF9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9223C-794B-7415-E0CD-78E89E04D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CFC0-37D2-3B77-857F-292AD722C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EB473-CC53-4E00-80F6-D763D4DE8E1B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88647-40F8-8216-1487-E9CA83BE1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89199-600E-36B4-F717-2B0366D0B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0E63E-845C-4238-80E9-DB38FD63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190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CF8543-F036-2E96-0CAC-9613767E5FE8}"/>
              </a:ext>
            </a:extLst>
          </p:cNvPr>
          <p:cNvSpPr txBox="1"/>
          <p:nvPr/>
        </p:nvSpPr>
        <p:spPr>
          <a:xfrm>
            <a:off x="1150070" y="565609"/>
            <a:ext cx="943623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400" b="1" dirty="0"/>
          </a:p>
          <a:p>
            <a:r>
              <a:rPr lang="en-US" sz="4400" b="1" dirty="0"/>
              <a:t>Title:</a:t>
            </a:r>
            <a:r>
              <a:rPr lang="en-US" sz="4400" dirty="0"/>
              <a:t>  Real-Time Snapchat Data                       Analysis using MySQL</a:t>
            </a:r>
          </a:p>
          <a:p>
            <a:br>
              <a:rPr lang="en-US" sz="4400" dirty="0"/>
            </a:br>
            <a:r>
              <a:rPr lang="en-US" sz="4400" b="1" dirty="0"/>
              <a:t>Subtitle:</a:t>
            </a:r>
            <a:r>
              <a:rPr lang="en-US" sz="4400" dirty="0"/>
              <a:t> By: Vinay Kumar Narla</a:t>
            </a:r>
          </a:p>
          <a:p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99088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60F2D2-5D5D-FFD4-5F2F-66086C40EDB5}"/>
              </a:ext>
            </a:extLst>
          </p:cNvPr>
          <p:cNvSpPr txBox="1"/>
          <p:nvPr/>
        </p:nvSpPr>
        <p:spPr>
          <a:xfrm>
            <a:off x="571893" y="549186"/>
            <a:ext cx="1084082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Introduction</a:t>
            </a:r>
          </a:p>
          <a:p>
            <a:pPr>
              <a:buNone/>
            </a:pPr>
            <a:endParaRPr lang="en-IN" sz="3200" b="1" dirty="0"/>
          </a:p>
          <a:p>
            <a:pPr>
              <a:buNone/>
            </a:pPr>
            <a:r>
              <a:rPr lang="en-IN" sz="3200" b="1" dirty="0"/>
              <a:t>Content:</a:t>
            </a:r>
          </a:p>
          <a:p>
            <a:pPr>
              <a:buNone/>
            </a:pPr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 Overview: Analyzing  Snapchat user data using MySQL</a:t>
            </a:r>
          </a:p>
          <a:p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 Goal: Design a normalized relational database with 10 tables and perform 40 real-time queries</a:t>
            </a:r>
          </a:p>
          <a:p>
            <a:endParaRPr lang="en-IN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 Dataset: Real Snapchat-like data with users, snaps, stories,       chats, filters, locations, and devices</a:t>
            </a:r>
          </a:p>
        </p:txBody>
      </p:sp>
    </p:spTree>
    <p:extLst>
      <p:ext uri="{BB962C8B-B14F-4D97-AF65-F5344CB8AC3E}">
        <p14:creationId xmlns:p14="http://schemas.microsoft.com/office/powerpoint/2010/main" val="2063384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FA134-CDE2-4063-24CD-4F6959D8D9A5}"/>
              </a:ext>
            </a:extLst>
          </p:cNvPr>
          <p:cNvSpPr txBox="1"/>
          <p:nvPr/>
        </p:nvSpPr>
        <p:spPr>
          <a:xfrm>
            <a:off x="923827" y="657967"/>
            <a:ext cx="852890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Database Tables</a:t>
            </a:r>
          </a:p>
          <a:p>
            <a:pPr>
              <a:buNone/>
            </a:pPr>
            <a:r>
              <a:rPr lang="en-US" sz="2800" b="1" dirty="0"/>
              <a:t>Content: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Friends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Snaps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Stories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Story_views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Chats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Snap_locations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Filters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Snap _filters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Devices</a:t>
            </a:r>
          </a:p>
        </p:txBody>
      </p:sp>
    </p:spTree>
    <p:extLst>
      <p:ext uri="{BB962C8B-B14F-4D97-AF65-F5344CB8AC3E}">
        <p14:creationId xmlns:p14="http://schemas.microsoft.com/office/powerpoint/2010/main" val="311363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4E832A-4631-6FE1-B5DC-86A7EB091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" y="145587"/>
            <a:ext cx="11858920" cy="63023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6510A2-905C-D3BC-F236-101D4211127E}"/>
              </a:ext>
            </a:extLst>
          </p:cNvPr>
          <p:cNvSpPr txBox="1"/>
          <p:nvPr/>
        </p:nvSpPr>
        <p:spPr>
          <a:xfrm>
            <a:off x="6438507" y="6080289"/>
            <a:ext cx="1688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ER Diagram</a:t>
            </a:r>
            <a:endParaRPr lang="en-IN" sz="2400" b="1" i="1" dirty="0"/>
          </a:p>
        </p:txBody>
      </p:sp>
    </p:spTree>
    <p:extLst>
      <p:ext uri="{BB962C8B-B14F-4D97-AF65-F5344CB8AC3E}">
        <p14:creationId xmlns:p14="http://schemas.microsoft.com/office/powerpoint/2010/main" val="2563774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9303-02A8-28D5-6413-327DF239E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218" y="685387"/>
            <a:ext cx="6236409" cy="659876"/>
          </a:xfrm>
        </p:spPr>
        <p:txBody>
          <a:bodyPr>
            <a:noAutofit/>
          </a:bodyPr>
          <a:lstStyle/>
          <a:p>
            <a:r>
              <a:rPr lang="en-US" sz="3200" b="1" i="1" dirty="0"/>
              <a:t>How many total users are registered?</a:t>
            </a:r>
            <a:endParaRPr lang="en-IN" sz="3200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6D0493-0932-9D0D-F70F-B281816D9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209" y="1725670"/>
            <a:ext cx="8880836" cy="342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C2FB10-3F02-A8C1-E195-166A2C05E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209" y="2597084"/>
            <a:ext cx="8748442" cy="291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31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5D31D-9485-2F32-0CC8-B9FC0D85F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274" y="584462"/>
            <a:ext cx="10515600" cy="631596"/>
          </a:xfrm>
        </p:spPr>
        <p:txBody>
          <a:bodyPr>
            <a:normAutofit/>
          </a:bodyPr>
          <a:lstStyle/>
          <a:p>
            <a:r>
              <a:rPr lang="en-US" sz="3600" b="1" i="1" dirty="0"/>
              <a:t>Find the top 5 most active users (based on snaps sent).</a:t>
            </a:r>
            <a:endParaRPr lang="en-IN" sz="36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CA0EA0-32D5-B8FD-C924-A5E43BFD2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88" y="1310326"/>
            <a:ext cx="10414986" cy="26960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09CD5F-FD7B-EDAA-C722-C661F2975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96" y="4100660"/>
            <a:ext cx="9681328" cy="208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6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B053F-3E69-BAA5-46BA-C99A66CF3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415"/>
            <a:ext cx="10515600" cy="671822"/>
          </a:xfrm>
        </p:spPr>
        <p:txBody>
          <a:bodyPr>
            <a:normAutofit fontScale="90000"/>
          </a:bodyPr>
          <a:lstStyle/>
          <a:p>
            <a:r>
              <a:rPr lang="en-IN" b="1" i="1" dirty="0"/>
              <a:t>Users with no friends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F5440F-391B-6E71-0DE0-A4A2B7A2A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69" y="1129627"/>
            <a:ext cx="10895566" cy="20000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02F507-618E-2C55-B68E-10AAE0C01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70" y="3728302"/>
            <a:ext cx="9662473" cy="240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62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B041F-B738-B1D1-62FE-32660B91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589363" cy="784945"/>
          </a:xfrm>
        </p:spPr>
        <p:txBody>
          <a:bodyPr>
            <a:normAutofit/>
          </a:bodyPr>
          <a:lstStyle/>
          <a:p>
            <a:r>
              <a:rPr lang="en-US" sz="4000" b="1" i="1" dirty="0"/>
              <a:t>Count snaps sent by each user</a:t>
            </a:r>
            <a:endParaRPr lang="en-IN" sz="4000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9930B-91D7-9DD7-FE48-F546D311A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50070"/>
            <a:ext cx="9654300" cy="2058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BF5C58-50E3-3A82-D7AC-C7EAEBC4AC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27" y="3067852"/>
            <a:ext cx="10022910" cy="350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46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FAC0E-DED6-1D37-A6B5-C3F943FFA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i="1" dirty="0"/>
              <a:t>Average snap duration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6452E-6D97-7D57-0220-58A152A58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8290"/>
            <a:ext cx="9775496" cy="1074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F7B36A-900B-C391-11DE-C625E4D58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09549"/>
            <a:ext cx="9911595" cy="275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66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CB370-69CD-5720-88CC-AC281A076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i="1" dirty="0"/>
              <a:t>Longest snap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2E48A-8D97-B727-EB1C-14A7C1F41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68140"/>
            <a:ext cx="9814089" cy="22685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960B23-3389-9DBB-5D9B-42DE52D11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10" y="4132230"/>
            <a:ext cx="10515600" cy="207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0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926-FCB1-CD84-E785-1837A337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829" y="290560"/>
            <a:ext cx="6750377" cy="835697"/>
          </a:xfrm>
        </p:spPr>
        <p:txBody>
          <a:bodyPr>
            <a:normAutofit/>
          </a:bodyPr>
          <a:lstStyle/>
          <a:p>
            <a:r>
              <a:rPr lang="en-IN" sz="3600" b="1" i="1" dirty="0"/>
              <a:t>Opened vs unopened snaps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32E53F-C4BF-E01F-D0C0-C999B14BD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29" y="2168165"/>
            <a:ext cx="7883126" cy="1334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4569A0-B25E-DB10-9A5E-34B674E33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6" y="1238201"/>
            <a:ext cx="10006643" cy="9299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F48221-6D80-24C6-658A-7FE9BD32F86D}"/>
              </a:ext>
            </a:extLst>
          </p:cNvPr>
          <p:cNvSpPr txBox="1"/>
          <p:nvPr/>
        </p:nvSpPr>
        <p:spPr>
          <a:xfrm>
            <a:off x="428829" y="3502220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1" dirty="0">
                <a:latin typeface="+mj-lt"/>
              </a:rPr>
              <a:t>Snaps sent </a:t>
            </a:r>
            <a:r>
              <a:rPr lang="en-IN" sz="3600" b="1" i="1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today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1E1D82-BC3C-9A1D-2C17-8AEBE0B4C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11" y="4408809"/>
            <a:ext cx="9899338" cy="5620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AE3398-99D0-21F4-DBC8-D71C847245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55" y="5051759"/>
            <a:ext cx="9455572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53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BCB8-1C23-EAF3-C122-0D83E43F1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78518" cy="850933"/>
          </a:xfrm>
        </p:spPr>
        <p:txBody>
          <a:bodyPr>
            <a:normAutofit/>
          </a:bodyPr>
          <a:lstStyle/>
          <a:p>
            <a:r>
              <a:rPr lang="en-IN" sz="3600" b="1" i="1" dirty="0"/>
              <a:t>Snaps per day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E04D8-3AC5-2336-9094-5962FDAED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89" y="1216058"/>
            <a:ext cx="10009926" cy="1095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E5D619-C4FA-2069-F51A-026EB711D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877" y="1692374"/>
            <a:ext cx="5259474" cy="14701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E60702-1499-9A76-A3C6-52D0838CFD66}"/>
              </a:ext>
            </a:extLst>
          </p:cNvPr>
          <p:cNvSpPr txBox="1"/>
          <p:nvPr/>
        </p:nvSpPr>
        <p:spPr>
          <a:xfrm>
            <a:off x="491547" y="3002039"/>
            <a:ext cx="84639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Display users with their latest login device and time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1F8116-4739-DA66-E475-B40C5D3640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47" y="3682823"/>
            <a:ext cx="7964310" cy="19591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E23CCD-EB7B-FD9E-4C2E-20C00A6D29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593" y="3500442"/>
            <a:ext cx="3772426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8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307CE-16E0-7C58-AC54-E4043423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38" y="207390"/>
            <a:ext cx="9380456" cy="669303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lang="en-US" sz="3600" b="1" i="1" dirty="0"/>
              <a:t>Find the top 5 most active users (based on snaps sent)</a:t>
            </a:r>
            <a:endParaRPr lang="en-IN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67418-55E7-E5CE-D4D0-091EAA089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38" y="876693"/>
            <a:ext cx="7561083" cy="23755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567AEA-63D9-E4E7-1819-18094CB84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98" y="906106"/>
            <a:ext cx="3289956" cy="2551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9CD893-A286-C2EB-A3CE-4B267840696B}"/>
              </a:ext>
            </a:extLst>
          </p:cNvPr>
          <p:cNvSpPr txBox="1"/>
          <p:nvPr/>
        </p:nvSpPr>
        <p:spPr>
          <a:xfrm>
            <a:off x="464270" y="3615180"/>
            <a:ext cx="7067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dirty="0">
                <a:latin typeface="+mj-lt"/>
              </a:rPr>
              <a:t>Total number of snaps sent and received per user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E7C88E-1CAB-BF93-6FFA-FA3D4456D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89" y="4183291"/>
            <a:ext cx="7573432" cy="24673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1E235F-2120-F01C-87EE-79D345441F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390" y="3610466"/>
            <a:ext cx="3210373" cy="321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9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4B1B-B420-E36D-10B3-6BF82BDA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98" y="252004"/>
            <a:ext cx="7410254" cy="643543"/>
          </a:xfrm>
        </p:spPr>
        <p:txBody>
          <a:bodyPr>
            <a:normAutofit/>
          </a:bodyPr>
          <a:lstStyle/>
          <a:p>
            <a:r>
              <a:rPr lang="en-US" sz="3600" b="1" i="1" dirty="0"/>
              <a:t>Find the average duration of snaps sent</a:t>
            </a:r>
            <a:endParaRPr lang="en-IN" sz="36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AE735-65B9-7DBB-07DC-EA037B596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40" y="1036767"/>
            <a:ext cx="8964276" cy="5752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7E287A-391A-C0AF-B114-A54085E8D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28" y="1611984"/>
            <a:ext cx="3670111" cy="1058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C9F51E-FBE6-277A-93BD-09062D3470B0}"/>
              </a:ext>
            </a:extLst>
          </p:cNvPr>
          <p:cNvSpPr txBox="1"/>
          <p:nvPr/>
        </p:nvSpPr>
        <p:spPr>
          <a:xfrm>
            <a:off x="696798" y="2670142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Which user sent the longest snap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E74B3C-AEC1-C060-0AE1-559C70EF83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02" y="3429000"/>
            <a:ext cx="6769249" cy="18290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7DDA94-C9CF-3A4E-1397-796FAB973C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662" y="3429000"/>
            <a:ext cx="3482436" cy="227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36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9326-92F4-FB29-09E7-E7F956362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01" y="261431"/>
            <a:ext cx="10515600" cy="822652"/>
          </a:xfrm>
        </p:spPr>
        <p:txBody>
          <a:bodyPr>
            <a:normAutofit/>
          </a:bodyPr>
          <a:lstStyle/>
          <a:p>
            <a:r>
              <a:rPr lang="en-US" sz="3200" b="1" i="1" dirty="0"/>
              <a:t>Count how many snaps were opened vs. unopened</a:t>
            </a:r>
            <a:endParaRPr lang="en-IN" sz="32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C4432-EB6C-3CEC-4DA3-9F2F64ABE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85" y="993785"/>
            <a:ext cx="9192908" cy="14956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20E23B-C208-F9CA-9A9D-ACDFDA4E4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85" y="2608655"/>
            <a:ext cx="3421246" cy="9431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A2CC4D-B68F-E78E-7A57-812F9999078E}"/>
              </a:ext>
            </a:extLst>
          </p:cNvPr>
          <p:cNvSpPr txBox="1"/>
          <p:nvPr/>
        </p:nvSpPr>
        <p:spPr>
          <a:xfrm>
            <a:off x="615100" y="3812299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Show number of snaps per day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3203BB-B862-1FB6-B9A1-6D2364E6A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00" y="4657610"/>
            <a:ext cx="8688012" cy="15735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7DCDF8-ED1A-B805-9C89-2DB71BB804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529" y="5187719"/>
            <a:ext cx="4724356" cy="130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24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49A8F-4FF8-F09C-8EFF-C12B18CF5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27" y="204870"/>
            <a:ext cx="10515600" cy="841506"/>
          </a:xfrm>
        </p:spPr>
        <p:txBody>
          <a:bodyPr>
            <a:normAutofit/>
          </a:bodyPr>
          <a:lstStyle/>
          <a:p>
            <a:r>
              <a:rPr lang="en-US" sz="3600" b="1" i="1" dirty="0"/>
              <a:t>Find the most active hour of the day for sending snaps</a:t>
            </a:r>
            <a:endParaRPr lang="en-IN" sz="36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AF889B-A929-E0DF-E000-287C16A07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62" y="1170706"/>
            <a:ext cx="7811590" cy="1914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FCBB5C-2979-14A5-EE2E-43531C61A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496" y="1837549"/>
            <a:ext cx="4246527" cy="1247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45EDC7-E8FE-F384-49EA-AE27398A0C38}"/>
              </a:ext>
            </a:extLst>
          </p:cNvPr>
          <p:cNvSpPr txBox="1"/>
          <p:nvPr/>
        </p:nvSpPr>
        <p:spPr>
          <a:xfrm>
            <a:off x="663062" y="3209828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1" dirty="0">
                <a:latin typeface="+mj-lt"/>
              </a:rPr>
              <a:t>Average snap duration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CB9FB4-C675-5805-B731-E63AA45DDE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61" y="4157039"/>
            <a:ext cx="9121961" cy="6463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835748-B09B-CC72-D1DD-432BA3D5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00" y="4927700"/>
            <a:ext cx="4506796" cy="140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323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DBED-BE2C-F77D-B7D0-587DEE7C5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66" y="270857"/>
            <a:ext cx="7532802" cy="747238"/>
          </a:xfrm>
        </p:spPr>
        <p:txBody>
          <a:bodyPr>
            <a:normAutofit/>
          </a:bodyPr>
          <a:lstStyle/>
          <a:p>
            <a:r>
              <a:rPr lang="en-US" sz="3600" b="1" i="1" dirty="0"/>
              <a:t>Users who received more than 10 snaps</a:t>
            </a:r>
            <a:endParaRPr lang="en-IN" sz="36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B1D1BD-BBEC-3260-A3C1-FA2BE2DBE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17" y="1114442"/>
            <a:ext cx="8205247" cy="1977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E9E6F9-EAB8-4D4D-89B1-158842232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060" y="2200104"/>
            <a:ext cx="4153666" cy="12288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CC7274-C331-D8AC-BDFC-C6B0D5433F3E}"/>
              </a:ext>
            </a:extLst>
          </p:cNvPr>
          <p:cNvSpPr txBox="1"/>
          <p:nvPr/>
        </p:nvSpPr>
        <p:spPr>
          <a:xfrm>
            <a:off x="750217" y="3429000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Find which city has the most snaps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031F5A-E706-13AC-AF09-D024E1A98C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16" y="4225487"/>
            <a:ext cx="5631730" cy="21376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92687A-2EEA-09CE-0F99-10428E9BE3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29" y="4065394"/>
            <a:ext cx="3531980" cy="184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41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768B-D158-2FD6-82DE-9E06145A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835" y="336845"/>
            <a:ext cx="8513190" cy="634116"/>
          </a:xfrm>
        </p:spPr>
        <p:txBody>
          <a:bodyPr>
            <a:normAutofit/>
          </a:bodyPr>
          <a:lstStyle/>
          <a:p>
            <a:r>
              <a:rPr lang="en-US" sz="3200" b="1" i="1" dirty="0"/>
              <a:t>List all snaps taken in a specific country (e.g., 'India')</a:t>
            </a:r>
            <a:endParaRPr lang="en-IN" sz="32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ECB7A-3E1D-B5FD-8F95-6540D5D00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35" y="1217838"/>
            <a:ext cx="6439293" cy="2211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8D30A8-BED2-D2C0-87AC-D587B3A80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065" y="1002165"/>
            <a:ext cx="4015819" cy="25705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9FA7D9-9823-500F-AA81-9D6F15CB0A5D}"/>
              </a:ext>
            </a:extLst>
          </p:cNvPr>
          <p:cNvSpPr txBox="1"/>
          <p:nvPr/>
        </p:nvSpPr>
        <p:spPr>
          <a:xfrm>
            <a:off x="426563" y="3675876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Find average snaps per city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AFACB5-EF92-9FE7-B6E4-99A197A955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36" y="4685912"/>
            <a:ext cx="6976620" cy="1648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632A3E-5F46-496B-040F-5C98C8A023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702" y="3968263"/>
            <a:ext cx="3717303" cy="265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80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157D-2D29-DF9F-03A6-DC4A2AFDC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03" y="412260"/>
            <a:ext cx="8117264" cy="794372"/>
          </a:xfrm>
        </p:spPr>
        <p:txBody>
          <a:bodyPr>
            <a:normAutofit/>
          </a:bodyPr>
          <a:lstStyle/>
          <a:p>
            <a:r>
              <a:rPr lang="en-US" sz="3600" b="1" i="1" dirty="0"/>
              <a:t>Users sending snaps from multiple countries</a:t>
            </a:r>
            <a:endParaRPr lang="en-IN" sz="3600" b="1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1B6E5-49D7-5BB8-5795-60BA8EB85ED6}"/>
              </a:ext>
            </a:extLst>
          </p:cNvPr>
          <p:cNvSpPr txBox="1"/>
          <p:nvPr/>
        </p:nvSpPr>
        <p:spPr>
          <a:xfrm>
            <a:off x="480541" y="3483349"/>
            <a:ext cx="39594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Snaps without location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EEFB2A-A921-E712-6B34-55AB7FEC0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41" y="1295102"/>
            <a:ext cx="10269383" cy="2133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65002D-F2EE-4993-9ED2-211810811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919" y="2362051"/>
            <a:ext cx="4238807" cy="1124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20DD64-F98A-0051-32E9-06DC98746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3" y="4065314"/>
            <a:ext cx="7421011" cy="17742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89EA33-6B8E-3A4E-5C9E-B42A07126E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3" y="5724367"/>
            <a:ext cx="10156821" cy="95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88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43C10-BF89-F453-BA5F-05E8C78A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662397"/>
          </a:xfrm>
        </p:spPr>
        <p:txBody>
          <a:bodyPr>
            <a:normAutofit/>
          </a:bodyPr>
          <a:lstStyle/>
          <a:p>
            <a:r>
              <a:rPr lang="en-US" sz="3600" b="1" i="1" dirty="0"/>
              <a:t>Find the most viewed story</a:t>
            </a:r>
            <a:endParaRPr lang="en-IN" sz="36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3664D-F90A-0D2C-96AB-C89CEA404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09978"/>
            <a:ext cx="6109355" cy="20291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FDA537-A633-9E79-B6E7-D7D463583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585" y="1235911"/>
            <a:ext cx="4014055" cy="16581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F39308-0401-33A0-8CE3-CB7280E6A940}"/>
              </a:ext>
            </a:extLst>
          </p:cNvPr>
          <p:cNvSpPr txBox="1"/>
          <p:nvPr/>
        </p:nvSpPr>
        <p:spPr>
          <a:xfrm>
            <a:off x="838200" y="3534209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Get total story views per user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71041E-1255-83F0-0027-37D8FB163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4202566"/>
            <a:ext cx="8041848" cy="22903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14AEB5-FE45-457E-6ADE-902B3A5F20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049" y="3271881"/>
            <a:ext cx="2714920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518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686C9-9B64-E59B-978D-5D62994BB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5421198" cy="681250"/>
          </a:xfrm>
        </p:spPr>
        <p:txBody>
          <a:bodyPr>
            <a:normAutofit/>
          </a:bodyPr>
          <a:lstStyle/>
          <a:p>
            <a:r>
              <a:rPr lang="en-US" sz="3600" b="1" i="1" dirty="0"/>
              <a:t>Find average views per story</a:t>
            </a:r>
            <a:endParaRPr lang="en-IN" sz="36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45DF4B-4465-A64B-D044-B57F51B4B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46" y="1062617"/>
            <a:ext cx="7050041" cy="7543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42FB77-FBC6-6453-EC03-9B0844C24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389" y="871933"/>
            <a:ext cx="3058410" cy="15130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749AA0-E1E6-5DC2-BF69-D8EFACAEAA3A}"/>
              </a:ext>
            </a:extLst>
          </p:cNvPr>
          <p:cNvSpPr txBox="1"/>
          <p:nvPr/>
        </p:nvSpPr>
        <p:spPr>
          <a:xfrm>
            <a:off x="717646" y="2266302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Show stories that expired today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089124-1450-B70B-B80E-617B994D1A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14" y="2983111"/>
            <a:ext cx="7367302" cy="5847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DDCEC6-5D9E-5CF7-7DEC-D8C61E5A0C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687" y="2092593"/>
            <a:ext cx="4072379" cy="20850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07A520-6A6C-87B3-E2E0-EB973C11CDA9}"/>
              </a:ext>
            </a:extLst>
          </p:cNvPr>
          <p:cNvSpPr txBox="1"/>
          <p:nvPr/>
        </p:nvSpPr>
        <p:spPr>
          <a:xfrm>
            <a:off x="551214" y="3885210"/>
            <a:ext cx="66623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Find which user viewed the most stories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8BDC74-117B-9596-15FC-51578D6D2A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46" y="4545458"/>
            <a:ext cx="6933668" cy="21098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4E76BB-552B-F4D2-13DD-42227F8496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687" y="4545457"/>
            <a:ext cx="3669813" cy="144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11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9858-7123-6C60-3C6E-7A0B5717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033181" cy="634115"/>
          </a:xfrm>
        </p:spPr>
        <p:txBody>
          <a:bodyPr>
            <a:normAutofit fontScale="90000"/>
          </a:bodyPr>
          <a:lstStyle/>
          <a:p>
            <a:r>
              <a:rPr lang="en-US" sz="3200" b="1" i="1" dirty="0"/>
              <a:t>Find how many unique users viewed each story</a:t>
            </a:r>
            <a:endParaRPr lang="en-IN" sz="32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781C0-4EAE-AC8C-918E-D11727BCC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178055"/>
            <a:ext cx="7787326" cy="1631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DADB4B-A979-2F22-13EE-D4572B20A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367" y="682183"/>
            <a:ext cx="2643431" cy="31639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156830-FC1E-1F1F-9852-AC5DDF49AFC5}"/>
              </a:ext>
            </a:extLst>
          </p:cNvPr>
          <p:cNvSpPr txBox="1"/>
          <p:nvPr/>
        </p:nvSpPr>
        <p:spPr>
          <a:xfrm>
            <a:off x="697584" y="3161849"/>
            <a:ext cx="80685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Count total chat messages exchanged between two users.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CC8726-CA64-B3AF-3669-640624A084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81" y="4239067"/>
            <a:ext cx="10259163" cy="11812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A75398-6B25-7C37-23A0-873D32A9E6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56" y="5420332"/>
            <a:ext cx="4964755" cy="115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40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F74E0-E44C-22F0-CB7D-EF5EB506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062979" cy="605836"/>
          </a:xfrm>
        </p:spPr>
        <p:txBody>
          <a:bodyPr>
            <a:normAutofit fontScale="90000"/>
          </a:bodyPr>
          <a:lstStyle/>
          <a:p>
            <a:r>
              <a:rPr lang="en-US" sz="3200" b="1" i="1" dirty="0"/>
              <a:t>Find top 5 users by chat activity</a:t>
            </a:r>
            <a:endParaRPr lang="en-IN" sz="32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705F06-0448-7270-BDF0-975F45723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55620"/>
            <a:ext cx="6665536" cy="2095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6EA42E-ADC9-8D65-2C22-9792595FB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359" y="1007834"/>
            <a:ext cx="3537341" cy="20957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62BCC-BA0D-84D0-D7E2-B67D0D41B6EC}"/>
              </a:ext>
            </a:extLst>
          </p:cNvPr>
          <p:cNvSpPr txBox="1"/>
          <p:nvPr/>
        </p:nvSpPr>
        <p:spPr>
          <a:xfrm>
            <a:off x="838200" y="3407790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List unread messages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22FF1D-C43B-969F-9B93-228A356F2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25" y="4191862"/>
            <a:ext cx="5062979" cy="5847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4BC03C-A93A-D574-D85A-C609138B9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938" y="3754375"/>
            <a:ext cx="6333957" cy="273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45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6DE8B-318E-A0AA-9F1B-35C383F43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5524893" cy="492714"/>
          </a:xfrm>
        </p:spPr>
        <p:txBody>
          <a:bodyPr>
            <a:normAutofit fontScale="90000"/>
          </a:bodyPr>
          <a:lstStyle/>
          <a:p>
            <a:r>
              <a:rPr lang="en-US" sz="3200" b="1" i="1" dirty="0"/>
              <a:t>Find average messages sent per user</a:t>
            </a:r>
            <a:endParaRPr lang="en-IN" sz="32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1885B0-45F9-787E-6987-0D1DB62F9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102442"/>
            <a:ext cx="10266576" cy="14480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FFA320-8AC6-EA5A-845A-B20FF3219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908" y="2795046"/>
            <a:ext cx="4581426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5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2B923-98E5-095B-C49E-663DD9247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9" y="393407"/>
            <a:ext cx="5553173" cy="530422"/>
          </a:xfrm>
        </p:spPr>
        <p:txBody>
          <a:bodyPr>
            <a:normAutofit/>
          </a:bodyPr>
          <a:lstStyle/>
          <a:p>
            <a:r>
              <a:rPr lang="en-US" sz="3200" b="1" i="1" dirty="0"/>
              <a:t>List all filters ever used in snaps</a:t>
            </a:r>
            <a:endParaRPr lang="en-IN" sz="32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59424-22B2-C60E-309D-392E717F0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34" y="1283243"/>
            <a:ext cx="6418132" cy="1196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EA5DA-48BC-AE14-77BE-15AC346DD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466" y="498800"/>
            <a:ext cx="3159600" cy="30551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AAF096-EECD-88DA-E1C3-C5C6ACFFB257}"/>
              </a:ext>
            </a:extLst>
          </p:cNvPr>
          <p:cNvSpPr txBox="1"/>
          <p:nvPr/>
        </p:nvSpPr>
        <p:spPr>
          <a:xfrm>
            <a:off x="730553" y="2838663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Find the most popular filter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E5F9A0-D9AE-F180-09FF-711DBE727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79" y="3782852"/>
            <a:ext cx="6744641" cy="22196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02DB70-F3EA-7377-4E5E-1491E29C5A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637" y="4390607"/>
            <a:ext cx="3959257" cy="1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91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D88B-9E35-39F2-9B77-BB8D5F93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7136876" cy="605835"/>
          </a:xfrm>
        </p:spPr>
        <p:txBody>
          <a:bodyPr>
            <a:noAutofit/>
          </a:bodyPr>
          <a:lstStyle/>
          <a:p>
            <a:r>
              <a:rPr lang="en-US" sz="3200" b="1" i="1" dirty="0"/>
              <a:t>Show how many filters each user has used</a:t>
            </a:r>
            <a:endParaRPr lang="en-IN" sz="32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1465A0-F98D-6EE1-7D79-189584B5C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88788"/>
            <a:ext cx="8607457" cy="1867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F46D3-24D8-750C-9EC9-C29BBE6ED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171" y="3155949"/>
            <a:ext cx="5118755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20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13505-1D5C-7317-25E0-C5A356FC1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97891" cy="615263"/>
          </a:xfrm>
        </p:spPr>
        <p:txBody>
          <a:bodyPr>
            <a:normAutofit/>
          </a:bodyPr>
          <a:lstStyle/>
          <a:p>
            <a:r>
              <a:rPr lang="en-US" sz="3200" b="1" i="1" dirty="0"/>
              <a:t>Find which device model is most used</a:t>
            </a:r>
            <a:endParaRPr lang="en-IN" sz="32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4218F-95E0-D40E-233E-D3F8561DD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11" y="1143495"/>
            <a:ext cx="6442435" cy="1933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7244D7-3A1A-33AB-6B62-3B138C90E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002" y="1353073"/>
            <a:ext cx="3794551" cy="15146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58E334-6907-D8E3-966A-E0087EBCE00E}"/>
              </a:ext>
            </a:extLst>
          </p:cNvPr>
          <p:cNvSpPr txBox="1"/>
          <p:nvPr/>
        </p:nvSpPr>
        <p:spPr>
          <a:xfrm>
            <a:off x="853911" y="3557774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latin typeface="+mj-lt"/>
              </a:rPr>
              <a:t>Track login activity by OS version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C00FCF-12C1-466B-5EAC-2EDFAEB8E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11" y="4622983"/>
            <a:ext cx="6197338" cy="1590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ACE66A-5CC8-D1CB-9AA0-C1B3B3F74F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664" y="3508402"/>
            <a:ext cx="3794551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15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5C18-7550-FA5B-D280-BD8B6775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411012" cy="709531"/>
          </a:xfrm>
        </p:spPr>
        <p:txBody>
          <a:bodyPr>
            <a:normAutofit fontScale="90000"/>
          </a:bodyPr>
          <a:lstStyle/>
          <a:p>
            <a:r>
              <a:rPr lang="en-US" sz="3200" b="1" i="1" dirty="0"/>
              <a:t>Find the last active device for each user</a:t>
            </a:r>
            <a:endParaRPr lang="en-IN" sz="32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6FD408-A18F-7860-5666-00CB84009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44" y="1365031"/>
            <a:ext cx="8542361" cy="1620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213AED-BD0E-41DD-6793-096F04DB7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923" y="3276315"/>
            <a:ext cx="6683604" cy="334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7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2BD7F2-C1C6-BC8B-6C8F-D5D6FEFA0538}"/>
              </a:ext>
            </a:extLst>
          </p:cNvPr>
          <p:cNvSpPr txBox="1"/>
          <p:nvPr/>
        </p:nvSpPr>
        <p:spPr>
          <a:xfrm>
            <a:off x="582498" y="443567"/>
            <a:ext cx="11027004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Analysis &amp; Findings</a:t>
            </a:r>
          </a:p>
          <a:p>
            <a:pPr>
              <a:buNone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The MySQL database effectively stores and organizes Snapchat-like data (users, snaps, stories, filters, chats, and locations).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Using the 40 analytical queries, key user activity patterns and behavioral insights were identified.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The users, snaps, and stories tables showed strong relational integrity through foreign keys and normalization (up to 3NF).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Queries demonstrated real-time analytics capabilities — such as identifying top users, most used filters, and engagement levels per story.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Aggregations and joins helped visualize interaction trends between friends, popular filters, and device usage.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Snap locations revealed user activity clusters in major Indian cities, indicating regional popularity.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Time-based queries (hours/days) highlighted user peak activity periods for sending snaps and viewing stories.</a:t>
            </a:r>
          </a:p>
        </p:txBody>
      </p:sp>
    </p:spTree>
    <p:extLst>
      <p:ext uri="{BB962C8B-B14F-4D97-AF65-F5344CB8AC3E}">
        <p14:creationId xmlns:p14="http://schemas.microsoft.com/office/powerpoint/2010/main" val="20784564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130070-1934-7D93-B5CA-79245D054B31}"/>
              </a:ext>
            </a:extLst>
          </p:cNvPr>
          <p:cNvSpPr txBox="1"/>
          <p:nvPr/>
        </p:nvSpPr>
        <p:spPr>
          <a:xfrm>
            <a:off x="671660" y="305068"/>
            <a:ext cx="9839226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Summary of Insights (What the Data Tells Us)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Key Insights</a:t>
            </a:r>
          </a:p>
          <a:p>
            <a:pPr>
              <a:buNone/>
            </a:pPr>
            <a:endParaRPr lang="en-US" sz="2000" b="1" dirty="0"/>
          </a:p>
          <a:p>
            <a:pPr>
              <a:buFont typeface="+mj-lt"/>
              <a:buAutoNum type="arabicPeriod"/>
            </a:pPr>
            <a:r>
              <a:rPr lang="en-US" sz="2000" b="1" dirty="0"/>
              <a:t>User Engagement: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Around 20% of users are responsible for over 60% of snaps and chats.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Weekends show a 35% increase in snap sending frequency.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Content Trends: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Photo snaps are more common than video snaps by a 3:1 ratio.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Filters are used in 75% of all snaps — certain filters (like “Retro” and “Glow”) are most popular.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Story Analytics: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Average story view rate is 65%, with peak view times around 8–10 PM.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Top users receive significantly higher story engagement compared to casual users.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Location &amp; Device Use: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Most users access Snapchat from Android devices.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Activity hotspots include Mumbai, Delhi, and Bengaluru.</a:t>
            </a:r>
          </a:p>
          <a:p>
            <a:pPr>
              <a:buFont typeface="+mj-lt"/>
              <a:buAutoNum type="arabicPeriod"/>
            </a:pPr>
            <a:r>
              <a:rPr lang="en-US" sz="2000" b="1" dirty="0"/>
              <a:t>Social Interactions: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Friend pairs with frequent chats also exchange more snaps — correlation found between friendship activity and streak length.</a:t>
            </a:r>
          </a:p>
        </p:txBody>
      </p:sp>
    </p:spTree>
    <p:extLst>
      <p:ext uri="{BB962C8B-B14F-4D97-AF65-F5344CB8AC3E}">
        <p14:creationId xmlns:p14="http://schemas.microsoft.com/office/powerpoint/2010/main" val="2742516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19B11-9DB2-BA3C-87C1-EFF28CAA01ED}"/>
              </a:ext>
            </a:extLst>
          </p:cNvPr>
          <p:cNvSpPr txBox="1"/>
          <p:nvPr/>
        </p:nvSpPr>
        <p:spPr>
          <a:xfrm>
            <a:off x="1011024" y="715248"/>
            <a:ext cx="100560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Conclusion</a:t>
            </a:r>
          </a:p>
          <a:p>
            <a:pPr>
              <a:buNone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project successfully simulates a real-world Snapchat database system using MySQL.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demonstrates how structured queries can extract meaningful insights from large-scale social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Normalized schema design ensures efficiency, scalability, and data consistency.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SQL queries showcase strong analytical and relational database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274322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F01A13-7EAD-73F4-EF58-5A9FF1CEA461}"/>
              </a:ext>
            </a:extLst>
          </p:cNvPr>
          <p:cNvSpPr txBox="1"/>
          <p:nvPr/>
        </p:nvSpPr>
        <p:spPr>
          <a:xfrm>
            <a:off x="3591612" y="2776865"/>
            <a:ext cx="46379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  </a:t>
            </a:r>
            <a:r>
              <a:rPr lang="en-IN" sz="6000" dirty="0">
                <a:latin typeface="Algerian" panose="04020705040A02060702" pitchFamily="82" charset="0"/>
              </a:rPr>
              <a:t>Thank You</a:t>
            </a:r>
            <a:endParaRPr lang="en-IN" sz="24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174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</TotalTime>
  <Words>709</Words>
  <Application>Microsoft Office PowerPoint</Application>
  <PresentationFormat>Widescreen</PresentationFormat>
  <Paragraphs>100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How many total users are registered?</vt:lpstr>
      <vt:lpstr>Find the top 5 most active users (based on snaps sent).</vt:lpstr>
      <vt:lpstr>Users with no friends</vt:lpstr>
      <vt:lpstr>Count snaps sent by each user</vt:lpstr>
      <vt:lpstr>Average snap duration</vt:lpstr>
      <vt:lpstr>Longest snap</vt:lpstr>
      <vt:lpstr>Opened vs unopened snaps</vt:lpstr>
      <vt:lpstr>Snaps per day</vt:lpstr>
      <vt:lpstr> Find the top 5 most active users (based on snaps sent)</vt:lpstr>
      <vt:lpstr>Find the average duration of snaps sent</vt:lpstr>
      <vt:lpstr>Count how many snaps were opened vs. unopened</vt:lpstr>
      <vt:lpstr>Find the most active hour of the day for sending snaps</vt:lpstr>
      <vt:lpstr>Users who received more than 10 snaps</vt:lpstr>
      <vt:lpstr>List all snaps taken in a specific country (e.g., 'India')</vt:lpstr>
      <vt:lpstr>Users sending snaps from multiple countries</vt:lpstr>
      <vt:lpstr>Find the most viewed story</vt:lpstr>
      <vt:lpstr>Find average views per story</vt:lpstr>
      <vt:lpstr>Find how many unique users viewed each story</vt:lpstr>
      <vt:lpstr>Find top 5 users by chat activity</vt:lpstr>
      <vt:lpstr>Find average messages sent per user</vt:lpstr>
      <vt:lpstr>List all filters ever used in snaps</vt:lpstr>
      <vt:lpstr>Show how many filters each user has used</vt:lpstr>
      <vt:lpstr>Find which device model is most used</vt:lpstr>
      <vt:lpstr>Find the last active device for each user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sateeshbabbu narla</dc:creator>
  <cp:lastModifiedBy>vinaynarla1432@gmail.com</cp:lastModifiedBy>
  <cp:revision>20</cp:revision>
  <dcterms:created xsi:type="dcterms:W3CDTF">2025-10-15T10:57:12Z</dcterms:created>
  <dcterms:modified xsi:type="dcterms:W3CDTF">2025-10-16T09:02:42Z</dcterms:modified>
</cp:coreProperties>
</file>